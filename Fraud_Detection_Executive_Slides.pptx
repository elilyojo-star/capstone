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13"/>
  </p:notesMasterIdLst>
  <p:handoutMasterIdLst>
    <p:handoutMasterId r:id="rId14"/>
  </p:handoutMasterIdLst>
  <p:sldIdLst>
    <p:sldId id="2561" r:id="rId5"/>
    <p:sldId id="2562" r:id="rId6"/>
    <p:sldId id="2563" r:id="rId7"/>
    <p:sldId id="2564" r:id="rId8"/>
    <p:sldId id="2565" r:id="rId9"/>
    <p:sldId id="2566" r:id="rId10"/>
    <p:sldId id="2567" r:id="rId11"/>
    <p:sldId id="25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redit Card Fraud Detection: Executive Overview" id="{2DF7DA49-8115-4733-99DE-1306D514A951}">
          <p14:sldIdLst>
            <p14:sldId id="2561"/>
          </p14:sldIdLst>
        </p14:section>
        <p14:section name="Business Context and Analytical Approach" id="{59AFF844-E8FB-44AA-940C-0CD39FD70A01}">
          <p14:sldIdLst>
            <p14:sldId id="2562"/>
            <p14:sldId id="2563"/>
            <p14:sldId id="2564"/>
            <p14:sldId id="2565"/>
            <p14:sldId id="2566"/>
            <p14:sldId id="2567"/>
            <p14:sldId id="25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A27EFB-B94A-4F95-AD0C-1C308EF6E2CF}" v="8" dt="2026-03-19T00:45:21.832"/>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97" autoAdjust="0"/>
    <p:restoredTop sz="94468"/>
  </p:normalViewPr>
  <p:slideViewPr>
    <p:cSldViewPr snapToGrid="0">
      <p:cViewPr>
        <p:scale>
          <a:sx n="100" d="100"/>
          <a:sy n="100" d="100"/>
        </p:scale>
        <p:origin x="-72" y="-595"/>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4A27EFB-B94A-4F95-AD0C-1C308EF6E2CF}"/>
    <pc:docChg chg="addSld delSld modSld addSection">
      <pc:chgData name="" userId="" providerId="" clId="Web-{94A27EFB-B94A-4F95-AD0C-1C308EF6E2CF}" dt="2026-03-19T00:45:21.832" v="8" actId="34807"/>
      <pc:docMkLst>
        <pc:docMk/>
      </pc:docMkLst>
      <pc:sldChg chg="del">
        <pc:chgData name="" userId="" providerId="" clId="Web-{94A27EFB-B94A-4F95-AD0C-1C308EF6E2CF}" dt="2026-03-19T00:45:21.770" v="0" actId="34807"/>
        <pc:sldMkLst>
          <pc:docMk/>
          <pc:sldMk cId="1639823776" sldId="256"/>
        </pc:sldMkLst>
      </pc:sldChg>
      <pc:sldChg chg="modSp add mod modClrScheme addAnim chgLayout">
        <pc:chgData name="" userId="" providerId="" clId="Web-{94A27EFB-B94A-4F95-AD0C-1C308EF6E2CF}" dt="2026-03-19T00:45:21.816" v="2" actId="34807"/>
        <pc:sldMkLst>
          <pc:docMk/>
          <pc:sldMk cId="2304170242" sldId="2561"/>
        </pc:sldMkLst>
        <pc:spChg chg="mod">
          <ac:chgData name="" userId="" providerId="" clId="Web-{94A27EFB-B94A-4F95-AD0C-1C308EF6E2CF}" dt="2026-03-19T00:45:21.816" v="1" actId="34807"/>
          <ac:spMkLst>
            <pc:docMk/>
            <pc:sldMk cId="2304170242" sldId="2561"/>
            <ac:spMk id="2" creationId="{849F7174-E20C-FD16-00DA-BADB8FF61B2F}"/>
          </ac:spMkLst>
        </pc:spChg>
        <pc:spChg chg="mod">
          <ac:chgData name="" userId="" providerId="" clId="Web-{94A27EFB-B94A-4F95-AD0C-1C308EF6E2CF}" dt="2026-03-19T00:45:21.816" v="1" actId="34807"/>
          <ac:spMkLst>
            <pc:docMk/>
            <pc:sldMk cId="2304170242" sldId="2561"/>
            <ac:spMk id="3" creationId="{19E7A620-10B2-B145-2F0E-0C185DFB4E71}"/>
          </ac:spMkLst>
        </pc:spChg>
        <pc:picChg chg="mod">
          <ac:chgData name="" userId="" providerId="" clId="Web-{94A27EFB-B94A-4F95-AD0C-1C308EF6E2CF}" dt="2026-03-19T00:45:21.816" v="1" actId="34807"/>
          <ac:picMkLst>
            <pc:docMk/>
            <pc:sldMk cId="2304170242" sldId="2561"/>
            <ac:picMk id="5" creationId="{019AAFF4-1D32-4A0A-BE7C-B3E1436F9C4F}"/>
          </ac:picMkLst>
        </pc:picChg>
      </pc:sldChg>
      <pc:sldChg chg="modSp add mod modTransition modClrScheme addAnim chgLayout">
        <pc:chgData name="" userId="" providerId="" clId="Web-{94A27EFB-B94A-4F95-AD0C-1C308EF6E2CF}" dt="2026-03-19T00:45:21.816" v="3" actId="34807"/>
        <pc:sldMkLst>
          <pc:docMk/>
          <pc:sldMk cId="1417634330" sldId="2562"/>
        </pc:sldMkLst>
        <pc:spChg chg="mod">
          <ac:chgData name="" userId="" providerId="" clId="Web-{94A27EFB-B94A-4F95-AD0C-1C308EF6E2CF}" dt="2026-03-19T00:45:21.816" v="1" actId="34807"/>
          <ac:spMkLst>
            <pc:docMk/>
            <pc:sldMk cId="1417634330" sldId="2562"/>
            <ac:spMk id="2" creationId="{543EA5D6-B662-3B95-C213-88581DD0D948}"/>
          </ac:spMkLst>
        </pc:spChg>
      </pc:sldChg>
      <pc:sldChg chg="modSp add mod modTransition modClrScheme addAnim chgLayout">
        <pc:chgData name="" userId="" providerId="" clId="Web-{94A27EFB-B94A-4F95-AD0C-1C308EF6E2CF}" dt="2026-03-19T00:45:21.816" v="4" actId="34807"/>
        <pc:sldMkLst>
          <pc:docMk/>
          <pc:sldMk cId="180364719" sldId="2563"/>
        </pc:sldMkLst>
        <pc:spChg chg="mod">
          <ac:chgData name="" userId="" providerId="" clId="Web-{94A27EFB-B94A-4F95-AD0C-1C308EF6E2CF}" dt="2026-03-19T00:45:21.816" v="1" actId="34807"/>
          <ac:spMkLst>
            <pc:docMk/>
            <pc:sldMk cId="180364719" sldId="2563"/>
            <ac:spMk id="2" creationId="{2BBD8186-7EFE-A0FD-7229-E0970A0742A4}"/>
          </ac:spMkLst>
        </pc:spChg>
        <pc:spChg chg="mod">
          <ac:chgData name="" userId="" providerId="" clId="Web-{94A27EFB-B94A-4F95-AD0C-1C308EF6E2CF}" dt="2026-03-19T00:45:21.816" v="1" actId="34807"/>
          <ac:spMkLst>
            <pc:docMk/>
            <pc:sldMk cId="180364719" sldId="2563"/>
            <ac:spMk id="4" creationId="{4D49A87F-8AD1-DEC5-A79B-B82B41061E5B}"/>
          </ac:spMkLst>
        </pc:spChg>
        <pc:picChg chg="mod">
          <ac:chgData name="" userId="" providerId="" clId="Web-{94A27EFB-B94A-4F95-AD0C-1C308EF6E2CF}" dt="2026-03-19T00:45:21.816" v="1" actId="34807"/>
          <ac:picMkLst>
            <pc:docMk/>
            <pc:sldMk cId="180364719" sldId="2563"/>
            <ac:picMk id="5" creationId="{D94675DD-2C49-4AF6-A36E-A533552F77F9}"/>
          </ac:picMkLst>
        </pc:picChg>
      </pc:sldChg>
      <pc:sldChg chg="modSp add mod modTransition modClrScheme addAnim chgLayout">
        <pc:chgData name="" userId="" providerId="" clId="Web-{94A27EFB-B94A-4F95-AD0C-1C308EF6E2CF}" dt="2026-03-19T00:45:21.816" v="5" actId="34807"/>
        <pc:sldMkLst>
          <pc:docMk/>
          <pc:sldMk cId="2738692090" sldId="2564"/>
        </pc:sldMkLst>
        <pc:spChg chg="mod">
          <ac:chgData name="" userId="" providerId="" clId="Web-{94A27EFB-B94A-4F95-AD0C-1C308EF6E2CF}" dt="2026-03-19T00:45:21.816" v="1" actId="34807"/>
          <ac:spMkLst>
            <pc:docMk/>
            <pc:sldMk cId="2738692090" sldId="2564"/>
            <ac:spMk id="2" creationId="{17D0BCBA-3788-39B6-91F4-5AE575BF50C5}"/>
          </ac:spMkLst>
        </pc:spChg>
        <pc:spChg chg="mod">
          <ac:chgData name="" userId="" providerId="" clId="Web-{94A27EFB-B94A-4F95-AD0C-1C308EF6E2CF}" dt="2026-03-19T00:45:21.816" v="1" actId="34807"/>
          <ac:spMkLst>
            <pc:docMk/>
            <pc:sldMk cId="2738692090" sldId="2564"/>
            <ac:spMk id="4" creationId="{4E53ABEF-0837-FA8E-953E-ED275594F07E}"/>
          </ac:spMkLst>
        </pc:spChg>
        <pc:picChg chg="mod">
          <ac:chgData name="" userId="" providerId="" clId="Web-{94A27EFB-B94A-4F95-AD0C-1C308EF6E2CF}" dt="2026-03-19T00:45:21.816" v="1" actId="34807"/>
          <ac:picMkLst>
            <pc:docMk/>
            <pc:sldMk cId="2738692090" sldId="2564"/>
            <ac:picMk id="5" creationId="{98ECC858-8672-476E-B3BF-64F69F273D44}"/>
          </ac:picMkLst>
        </pc:picChg>
      </pc:sldChg>
      <pc:sldChg chg="modSp add mod modTransition modClrScheme addAnim chgLayout">
        <pc:chgData name="" userId="" providerId="" clId="Web-{94A27EFB-B94A-4F95-AD0C-1C308EF6E2CF}" dt="2026-03-19T00:45:21.816" v="6" actId="34807"/>
        <pc:sldMkLst>
          <pc:docMk/>
          <pc:sldMk cId="3496766194" sldId="2565"/>
        </pc:sldMkLst>
        <pc:spChg chg="mod">
          <ac:chgData name="" userId="" providerId="" clId="Web-{94A27EFB-B94A-4F95-AD0C-1C308EF6E2CF}" dt="2026-03-19T00:45:21.816" v="1" actId="34807"/>
          <ac:spMkLst>
            <pc:docMk/>
            <pc:sldMk cId="3496766194" sldId="2565"/>
            <ac:spMk id="2" creationId="{14D7CA7A-F621-4853-8A50-B743BD73A872}"/>
          </ac:spMkLst>
        </pc:spChg>
        <pc:spChg chg="mod">
          <ac:chgData name="" userId="" providerId="" clId="Web-{94A27EFB-B94A-4F95-AD0C-1C308EF6E2CF}" dt="2026-03-19T00:45:21.816" v="1" actId="34807"/>
          <ac:spMkLst>
            <pc:docMk/>
            <pc:sldMk cId="3496766194" sldId="2565"/>
            <ac:spMk id="4" creationId="{0AEA5E71-4AE1-1A5F-4C92-078DEB1B2DCE}"/>
          </ac:spMkLst>
        </pc:spChg>
        <pc:picChg chg="mod">
          <ac:chgData name="" userId="" providerId="" clId="Web-{94A27EFB-B94A-4F95-AD0C-1C308EF6E2CF}" dt="2026-03-19T00:45:21.816" v="1" actId="34807"/>
          <ac:picMkLst>
            <pc:docMk/>
            <pc:sldMk cId="3496766194" sldId="2565"/>
            <ac:picMk id="5" creationId="{568F40EC-E8E5-4993-A56F-88C8DA744DAF}"/>
          </ac:picMkLst>
        </pc:picChg>
      </pc:sldChg>
      <pc:sldChg chg="modSp add mod modTransition modClrScheme addAnim chgLayout">
        <pc:chgData name="" userId="" providerId="" clId="Web-{94A27EFB-B94A-4F95-AD0C-1C308EF6E2CF}" dt="2026-03-19T00:45:21.832" v="7" actId="34807"/>
        <pc:sldMkLst>
          <pc:docMk/>
          <pc:sldMk cId="3023230862" sldId="2566"/>
        </pc:sldMkLst>
        <pc:spChg chg="mod">
          <ac:chgData name="" userId="" providerId="" clId="Web-{94A27EFB-B94A-4F95-AD0C-1C308EF6E2CF}" dt="2026-03-19T00:45:21.816" v="1" actId="34807"/>
          <ac:spMkLst>
            <pc:docMk/>
            <pc:sldMk cId="3023230862" sldId="2566"/>
            <ac:spMk id="2" creationId="{2D4D6885-B354-AA93-BA2B-EA1BA8959CA1}"/>
          </ac:spMkLst>
        </pc:spChg>
        <pc:spChg chg="mod">
          <ac:chgData name="" userId="" providerId="" clId="Web-{94A27EFB-B94A-4F95-AD0C-1C308EF6E2CF}" dt="2026-03-19T00:45:21.816" v="1" actId="34807"/>
          <ac:spMkLst>
            <pc:docMk/>
            <pc:sldMk cId="3023230862" sldId="2566"/>
            <ac:spMk id="4" creationId="{F6B007F1-EA4B-D7D5-2C37-595BE3E7185F}"/>
          </ac:spMkLst>
        </pc:spChg>
        <pc:picChg chg="mod">
          <ac:chgData name="" userId="" providerId="" clId="Web-{94A27EFB-B94A-4F95-AD0C-1C308EF6E2CF}" dt="2026-03-19T00:45:21.816" v="1" actId="34807"/>
          <ac:picMkLst>
            <pc:docMk/>
            <pc:sldMk cId="3023230862" sldId="2566"/>
            <ac:picMk id="5" creationId="{8CF84C53-C536-446E-AA9D-22C5EE58DEC2}"/>
          </ac:picMkLst>
        </pc:picChg>
      </pc:sldChg>
      <pc:sldChg chg="modSp add mod modTransition modClrScheme chgLayout">
        <pc:chgData name="" userId="" providerId="" clId="Web-{94A27EFB-B94A-4F95-AD0C-1C308EF6E2CF}" dt="2026-03-19T00:45:21.816" v="1" actId="34807"/>
        <pc:sldMkLst>
          <pc:docMk/>
          <pc:sldMk cId="3813381389" sldId="2567"/>
        </pc:sldMkLst>
        <pc:spChg chg="mod">
          <ac:chgData name="" userId="" providerId="" clId="Web-{94A27EFB-B94A-4F95-AD0C-1C308EF6E2CF}" dt="2026-03-19T00:45:21.816" v="1" actId="34807"/>
          <ac:spMkLst>
            <pc:docMk/>
            <pc:sldMk cId="3813381389" sldId="2567"/>
            <ac:spMk id="2" creationId="{5388A2AA-ADEC-B3B2-D307-CFB17685675E}"/>
          </ac:spMkLst>
        </pc:spChg>
        <pc:graphicFrameChg chg="mod">
          <ac:chgData name="" userId="" providerId="" clId="Web-{94A27EFB-B94A-4F95-AD0C-1C308EF6E2CF}" dt="2026-03-19T00:45:21.816" v="1" actId="34807"/>
          <ac:graphicFrameMkLst>
            <pc:docMk/>
            <pc:sldMk cId="3813381389" sldId="2567"/>
            <ac:graphicFrameMk id="5" creationId="{FF0BFEBC-AD4E-4D84-8519-590B07692746}"/>
          </ac:graphicFrameMkLst>
        </pc:graphicFrameChg>
      </pc:sldChg>
      <pc:sldChg chg="modSp add mod modTransition modClrScheme addAnim chgLayout">
        <pc:chgData name="" userId="" providerId="" clId="Web-{94A27EFB-B94A-4F95-AD0C-1C308EF6E2CF}" dt="2026-03-19T00:45:21.832" v="8" actId="34807"/>
        <pc:sldMkLst>
          <pc:docMk/>
          <pc:sldMk cId="2707332075" sldId="2568"/>
        </pc:sldMkLst>
        <pc:spChg chg="mod">
          <ac:chgData name="" userId="" providerId="" clId="Web-{94A27EFB-B94A-4F95-AD0C-1C308EF6E2CF}" dt="2026-03-19T00:45:21.816" v="1" actId="34807"/>
          <ac:spMkLst>
            <pc:docMk/>
            <pc:sldMk cId="2707332075" sldId="2568"/>
            <ac:spMk id="2" creationId="{4154A74B-C4E2-09F6-CD10-F0A616A375DB}"/>
          </ac:spMkLst>
        </pc:spChg>
        <pc:spChg chg="mod">
          <ac:chgData name="" userId="" providerId="" clId="Web-{94A27EFB-B94A-4F95-AD0C-1C308EF6E2CF}" dt="2026-03-19T00:45:21.816" v="1" actId="34807"/>
          <ac:spMkLst>
            <pc:docMk/>
            <pc:sldMk cId="2707332075" sldId="2568"/>
            <ac:spMk id="4" creationId="{7028C3DC-A2FD-88B2-276D-C515B70B077D}"/>
          </ac:spMkLst>
        </pc:spChg>
        <pc:picChg chg="mod">
          <ac:chgData name="" userId="" providerId="" clId="Web-{94A27EFB-B94A-4F95-AD0C-1C308EF6E2CF}" dt="2026-03-19T00:45:21.816" v="1" actId="34807"/>
          <ac:picMkLst>
            <pc:docMk/>
            <pc:sldMk cId="2707332075" sldId="2568"/>
            <ac:picMk id="5" creationId="{DA572450-598C-4978-9866-BCC88D90139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3/18/2026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1643088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Problem: Credit Card Fraud in Highly Imbalanced Data, Dataset Characteristics and Imbalance Challenge, Modeling Strategy and Baseline Selection, Handling Class Imbalance with SMOTE, Advanced Synthesis: SMOTE vs GAN Comparison, Results, Recommendation, and Next Steps</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4023319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Credit card fraud represents a low-frequency but high-impact risk for financial institutions, merchants, and consumers. In real-world transaction streams, fraudulent events typically account for well under one percent of all observations, yet they can generate outsized financial losses, regulatory exposure, and reputational damage. The core business challenge is therefore not simply predicting transactions accurately overall, but detecting rare fraudulent cases with high recall while keeping false positives at a manageable level. Excessive false positives increase operational costs, customer friction, and chargeback disputes, while missed fraud directly translates into financial loss. This tension makes fraud detection a classic example of a high-stakes, imbalanced classification problem. Traditional accuracy metrics are misleading in this context because a model can achieve over 99 percent accuracy by always predicting the majority, non-fraud class. As a result, fraud detection requires carefully selected evaluation metrics and modeling strategies that prioritize minority-class detection. From an executive perspective, the goal of this analysis is to demonstrate a defensible, transparent machine learning pipeline that balances predictive performance with operational feasibility. The approach shown here mirrors how fraud analytics teams operate in production environments: starting with an interpretable baseline, validating data assumptions, addressing class imbalance explicitly, and comparing alternative techniques based on measurable business outcomes. By framing the problem in business terms rather than purely technical ones, the analysis ensures that model decisions can be justified to non-technical stakeholders, auditors, and regulators. Ultimately, this project seeks to answer a practical question: how can we reliably improve fraud detection performance using standard, auditable machine learning tools while remaining mindful of implementation risk and cost?</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522958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dataset used in this analysis consists of anonymized credit card transactions labeled as either legitimate or fraudulent. Each observation represents a single transaction described by numerical features derived from a principal component transformation, along with a binary class label indicating fraud. While the feature set is already cleaned and anonymized, the defining characteristic of the data is its extreme class imbalance: fraudulent transactions represent a very small fraction of the total dataset. This imbalance fundamentally shapes every modeling decision that follows. Exploratory data analysis reveals that without corrective techniques, most standard classifiers will be biased toward predicting the majority class. From a business standpoint, this mirrors real transaction data, making the dataset an appropriate proxy for production conditions. The imbalance also explains why specialized evaluation metrics such as precision, recall, F1-score, and ROC-AUC are emphasized over raw accuracy. Recall on the fraud class is particularly critical, as it measures the proportion of fraudulent transactions successfully detected. At the same time, precision cannot be ignored, since an excessive number of false fraud alerts would overwhelm investigation teams and negatively impact customer experience. Understanding these data characteristics early allows stakeholders to interpret results correctly and prevents overconfidence in misleading metrics. This section establishes the analytical constraints within which all subsequent modeling choices are made, reinforcing why imbalance-aware methods are not optional enhancements but core requirements for any credible fraud detection system.</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78073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structured modeling strategy is essential for producing results that are both performant and explainable. The analysis begins with a baseline logistic regression model, which is widely used in financial risk modeling due to its interpretability, stability, and regulatory acceptance. Logistic regression provides a clear benchmark against which more complex models can be evaluated. Building a baseline serves two purposes: it confirms that the data pipeline is functioning correctly and establishes a minimum performance threshold. After the baseline, a Random Forest classifier is introduced to capture non-linear relationships and feature interactions that simpler models cannot. Random Forests are well-suited to tabular transaction data and are commonly deployed in industry due to their robustness and relatively straightforward tuning. Importantly, both models are trained and evaluated using identical data splits and metrics, ensuring that performance differences are attributable to modeling choices rather than experimental artifacts. This stepwise escalation in model complexity reflects best practices in applied machine learning, where transparency and incremental improvement are preferred over immediately deploying opaque or high-risk techniques. For executive stakeholders, this strategy demonstrates discipline: advanced methods are only justified when they deliver measurable gains over simpler, well-understood alternatives.</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622491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Synthetic Minority Over-sampling Technique, or SMOTE, is a widely adopted method for addressing class imbalance in tabular datasets. Rather than simply duplicating rare fraud examples, SMOTE generates new synthetic samples by interpolating between existing minority-class observations. This approach increases the representation of fraudulent transactions in the training data, allowing classifiers to learn more informative decision boundaries. In this project, SMOTE is applied only to the training set, preserving the integrity of the test data and ensuring a fair evaluation. When combined with a Random Forest classifier, SMOTE produces a significant improvement in fraud recall without an unacceptable drop in precision. From a business perspective, this translates into detecting more fraudulent transactions while keeping false alarms within manageable limits. SMOTE’s primary advantages are its simplicity, speed, and interpretability, making it attractive for production environments where transparency and reproducibility are critical. However, it is not without limitations: because SMOTE relies on linear interpolation, it may struggle to capture highly complex or multimodal fraud patterns. Despite this, SMOTE remains an industry-standard baseline and serves as a strong reference point for evaluating more advanced data synthesis techniques.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28795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assess whether more advanced techniques offer meaningful benefits, the analysis compares SMOTE with a Generative Adversarial Network, or GAN, adapted for tabular data. GANs generate synthetic data by training two neural networks in opposition: a generator that creates fake samples and a discriminator that attempts to distinguish them from real data. In theory, GANs can model complex, non-linear relationships that simpler methods like SMOTE cannot. In practice, however, GANs introduce additional complexity, training instability, and tuning challenges. In this project, a lightweight GAN implementation is used to illustrate the concept rather than to maximize raw performance. Results show that while GAN-generated data can improve certain metrics, the gains over SMOTE are modest relative to the added implementation risk. From an executive standpoint, this comparison highlights a key insight: more sophisticated techniques are not always superior when evaluated holistically. SMOTE offers a strong balance of performance, simplicity, and auditability, whereas GANs may be more appropriate for future exploration when data volume, expertise, and governance structures support their use.</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4103938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results of this analysis demonstrate that addressing class imbalance explicitly is essential for effective fraud detection. Compared to the baseline model, the SMOTE-enhanced Random Forest achieves substantially higher recall on fraudulent transactions while maintaining acceptable precision. Although GAN-based synthesis shows conceptual promise, its incremental performance gains do not clearly outweigh its added complexity in this context. Based on these findings, the recommended approach is to deploy a Random Forest model trained with SMOTE-resampled data as a reliable, production-ready solution. This approach aligns with industry best practices, is easier to explain to regulators and stakeholders, and can be implemented with existing machine learning infrastructure. Looking forward, future enhancements could include cost-sensitive learning, threshold optimization based on business impact, or more advanced generative models evaluated under stricter governance controls. In conclusion, the project demonstrates a pragmatic, defensible path to improving fraud detection outcomes while balancing performance, risk, and operational feasibility—key considerations for any executive decision regarding machine learning deployment.</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261371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a:normAutofit/>
          </a:bodyPr>
          <a:lstStyle>
            <a:lvl1pPr>
              <a:defRPr sz="6200"/>
            </a:lvl1pPr>
          </a:lstStyle>
          <a:p>
            <a:r>
              <a:rPr lang="en-US"/>
              <a:t>Click to edit Master title style</a:t>
            </a:r>
          </a:p>
        </p:txBody>
      </p:sp>
      <p:sp>
        <p:nvSpPr>
          <p:cNvPr id="13" name="Subtitle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4" name="Date Placeholder 3">
            <a:extLst>
              <a:ext uri="{FF2B5EF4-FFF2-40B4-BE49-F238E27FC236}">
                <a16:creationId xmlns:a16="http://schemas.microsoft.com/office/drawing/2014/main" id="{702BB055-E356-D9DC-D968-F4B6E02320D2}"/>
              </a:ext>
            </a:extLst>
          </p:cNvPr>
          <p:cNvSpPr>
            <a:spLocks noGrp="1"/>
          </p:cNvSpPr>
          <p:nvPr>
            <p:ph type="dt" sz="half" idx="14"/>
          </p:nvPr>
        </p:nvSpPr>
        <p:spPr/>
        <p:txBody>
          <a:bodyPr/>
          <a:lstStyle/>
          <a:p>
            <a:fld id="{CA325475-EA0F-49B2-A586-CC0D8CB91667}" type="datetime1">
              <a:rPr lang="en-US" smtClean="0"/>
              <a:pPr/>
              <a:t>3/18/2026</a:t>
            </a:fld>
            <a:endParaRPr lang="en-US" dirty="0"/>
          </a:p>
        </p:txBody>
      </p:sp>
      <p:sp>
        <p:nvSpPr>
          <p:cNvPr id="6" name="Footer Placeholder 5">
            <a:extLst>
              <a:ext uri="{FF2B5EF4-FFF2-40B4-BE49-F238E27FC236}">
                <a16:creationId xmlns:a16="http://schemas.microsoft.com/office/drawing/2014/main" id="{A3C1376F-CBCD-234F-6AE2-E91A91B3617E}"/>
              </a:ext>
            </a:extLst>
          </p:cNvPr>
          <p:cNvSpPr>
            <a:spLocks noGrp="1"/>
          </p:cNvSpPr>
          <p:nvPr>
            <p:ph type="ftr" sz="quarter" idx="15"/>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3/18/2026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7BCC1026-8D94-2081-4610-6490A031C2BE}"/>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6" name="Footer Placeholder 5">
            <a:extLst>
              <a:ext uri="{FF2B5EF4-FFF2-40B4-BE49-F238E27FC236}">
                <a16:creationId xmlns:a16="http://schemas.microsoft.com/office/drawing/2014/main" id="{945E5425-2E7D-668E-4A6F-75CB0F0C63B2}"/>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9E7CE726-49FC-55E2-26A1-1FE3520D3F1B}"/>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7" name="Footer Placeholder 6">
            <a:extLst>
              <a:ext uri="{FF2B5EF4-FFF2-40B4-BE49-F238E27FC236}">
                <a16:creationId xmlns:a16="http://schemas.microsoft.com/office/drawing/2014/main" id="{23D8F946-DB8C-1435-46BE-F233D3CF260C}"/>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anchor="b"/>
          <a:lstStyle/>
          <a:p>
            <a:r>
              <a:rPr lang="en-US" dirty="0"/>
              <a:t>Click to edit Master title style</a:t>
            </a:r>
          </a:p>
        </p:txBody>
      </p:sp>
      <p:sp>
        <p:nvSpPr>
          <p:cNvPr id="12" name="Subtitle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a:r>
              <a:rPr lang="en-US" dirty="0"/>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ate Placeholder 8">
            <a:extLst>
              <a:ext uri="{FF2B5EF4-FFF2-40B4-BE49-F238E27FC236}">
                <a16:creationId xmlns:a16="http://schemas.microsoft.com/office/drawing/2014/main" id="{CF5C3FE8-0DDB-A431-4FEB-7A68056C262F}"/>
              </a:ext>
            </a:extLst>
          </p:cNvPr>
          <p:cNvSpPr>
            <a:spLocks noGrp="1"/>
          </p:cNvSpPr>
          <p:nvPr>
            <p:ph type="dt" sz="half" idx="18"/>
          </p:nvPr>
        </p:nvSpPr>
        <p:spPr/>
        <p:txBody>
          <a:bodyPr/>
          <a:lstStyle/>
          <a:p>
            <a:fld id="{CA325475-EA0F-49B2-A586-CC0D8CB91667}" type="datetime1">
              <a:rPr lang="en-US" smtClean="0"/>
              <a:pPr/>
              <a:t>3/18/2026</a:t>
            </a:fld>
            <a:endParaRPr lang="en-US" dirty="0"/>
          </a:p>
        </p:txBody>
      </p:sp>
      <p:sp>
        <p:nvSpPr>
          <p:cNvPr id="10" name="Footer Placeholder 9">
            <a:extLst>
              <a:ext uri="{FF2B5EF4-FFF2-40B4-BE49-F238E27FC236}">
                <a16:creationId xmlns:a16="http://schemas.microsoft.com/office/drawing/2014/main" id="{274D131E-594B-1FB1-8E49-0B78695F0A87}"/>
              </a:ext>
            </a:extLst>
          </p:cNvPr>
          <p:cNvSpPr>
            <a:spLocks noGrp="1"/>
          </p:cNvSpPr>
          <p:nvPr>
            <p:ph type="ftr" sz="quarter" idx="19"/>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a:normAutofit/>
          </a:bodyPr>
          <a:lstStyle>
            <a:lvl1pPr>
              <a:defRPr sz="7000"/>
            </a:lvl1pPr>
          </a:lstStyle>
          <a:p>
            <a:r>
              <a:rPr lang="en-US"/>
              <a:t>Click to edit Master title style</a:t>
            </a:r>
          </a:p>
        </p:txBody>
      </p:sp>
      <p:sp>
        <p:nvSpPr>
          <p:cNvPr id="12" name="Subtitle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3/18/2026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anchor="b">
            <a:normAutofit/>
          </a:bodyPr>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3/18/2026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3/18/2026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3/18/2026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Title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anchor="b">
            <a:normAutofit/>
          </a:bodyPr>
          <a:lstStyle>
            <a:lvl1pPr>
              <a:defRPr sz="6200"/>
            </a:lvl1pPr>
          </a:lstStyle>
          <a:p>
            <a:r>
              <a:rPr lang="en-US"/>
              <a:t>Click to edit Master title style</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3/18/2026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anchor="b">
            <a:normAutofit/>
          </a:bodyPr>
          <a:lstStyle>
            <a:lvl1pPr>
              <a:defRPr sz="4000"/>
            </a:lvl1pPr>
          </a:lstStyle>
          <a:p>
            <a:r>
              <a:rPr lang="en-US" dirty="0"/>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3955E63F-831B-1E75-A3D2-7916C30870FC}"/>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6" name="Footer Placeholder 5">
            <a:extLst>
              <a:ext uri="{FF2B5EF4-FFF2-40B4-BE49-F238E27FC236}">
                <a16:creationId xmlns:a16="http://schemas.microsoft.com/office/drawing/2014/main" id="{AA36642A-4BF1-3042-3D1E-3F9A6461A021}"/>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anchor="b" anchorCtr="0">
            <a:normAutofit/>
          </a:bodyPr>
          <a:lstStyle>
            <a:lvl1pPr algn="ct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3/18/2026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3/18/2026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3/18/2026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3/18/2026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3/18/2026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253C0EE3-FE78-FEE2-1C03-69EF2436C5E6}"/>
              </a:ext>
            </a:extLst>
          </p:cNvPr>
          <p:cNvSpPr>
            <a:spLocks noGrp="1"/>
          </p:cNvSpPr>
          <p:nvPr>
            <p:ph type="dt" sz="half" idx="14"/>
          </p:nvPr>
        </p:nvSpPr>
        <p:spPr/>
        <p:txBody>
          <a:bodyPr/>
          <a:lstStyle/>
          <a:p>
            <a:fld id="{CA325475-EA0F-49B2-A586-CC0D8CB91667}" type="datetime1">
              <a:rPr lang="en-US" smtClean="0"/>
              <a:pPr/>
              <a:t>3/18/2026</a:t>
            </a:fld>
            <a:endParaRPr lang="en-US" dirty="0"/>
          </a:p>
        </p:txBody>
      </p:sp>
      <p:sp>
        <p:nvSpPr>
          <p:cNvPr id="9" name="Footer Placeholder 8">
            <a:extLst>
              <a:ext uri="{FF2B5EF4-FFF2-40B4-BE49-F238E27FC236}">
                <a16:creationId xmlns:a16="http://schemas.microsoft.com/office/drawing/2014/main" id="{0681E699-A9DC-6ADB-B033-12F132D21DFE}"/>
              </a:ext>
            </a:extLst>
          </p:cNvPr>
          <p:cNvSpPr>
            <a:spLocks noGrp="1"/>
          </p:cNvSpPr>
          <p:nvPr>
            <p:ph type="ftr" sz="quarter" idx="15"/>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anchor="b">
            <a:normAutofit/>
          </a:bodyPr>
          <a:lstStyle>
            <a:lvl1pPr>
              <a:defRPr sz="3200"/>
            </a:lvl1pPr>
          </a:lstStyle>
          <a:p>
            <a:r>
              <a:rPr lang="en-US" dirty="0"/>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6" name="Rectangle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7C1037C4-D7CB-E822-E47E-57790F243FD1}"/>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5" name="Footer Placeholder 4">
            <a:extLst>
              <a:ext uri="{FF2B5EF4-FFF2-40B4-BE49-F238E27FC236}">
                <a16:creationId xmlns:a16="http://schemas.microsoft.com/office/drawing/2014/main" id="{8135CE1D-F6D3-A8A3-782F-E5E88CCE35F5}"/>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dirty="0"/>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93B77D22-A82C-44F7-6BC2-B414E8E7914D}"/>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4" name="Footer Placeholder 3">
            <a:extLst>
              <a:ext uri="{FF2B5EF4-FFF2-40B4-BE49-F238E27FC236}">
                <a16:creationId xmlns:a16="http://schemas.microsoft.com/office/drawing/2014/main" id="{42ED6638-8710-3EEF-9CFC-179C59D52F51}"/>
              </a:ext>
            </a:extLst>
          </p:cNvPr>
          <p:cNvSpPr>
            <a:spLocks noGrp="1"/>
          </p:cNvSpPr>
          <p:nvPr>
            <p:ph type="ftr" sz="quarter" idx="20"/>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10C5241C-A695-5757-744E-AB1824BCED7B}"/>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6" name="Footer Placeholder 5">
            <a:extLst>
              <a:ext uri="{FF2B5EF4-FFF2-40B4-BE49-F238E27FC236}">
                <a16:creationId xmlns:a16="http://schemas.microsoft.com/office/drawing/2014/main" id="{B486C41F-1C9D-B14A-9954-F5ED7CA31A5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lvl1pPr>
              <a:defRPr sz="3600"/>
            </a:lvl1pPr>
          </a:lstStyle>
          <a:p>
            <a:r>
              <a:rPr lang="en-US" dirty="0"/>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83862476-C6C3-75C3-F440-74F469A967A1}"/>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3" name="Footer Placeholder 2">
            <a:extLst>
              <a:ext uri="{FF2B5EF4-FFF2-40B4-BE49-F238E27FC236}">
                <a16:creationId xmlns:a16="http://schemas.microsoft.com/office/drawing/2014/main" id="{E7180EED-4901-3AAF-D90A-6939CE7EFC54}"/>
              </a:ext>
            </a:extLst>
          </p:cNvPr>
          <p:cNvSpPr>
            <a:spLocks noGrp="1"/>
          </p:cNvSpPr>
          <p:nvPr>
            <p:ph type="ftr" sz="quarter" idx="20"/>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dirty="0"/>
              <a:t>Click to edit Master title style</a:t>
            </a:r>
          </a:p>
        </p:txBody>
      </p:sp>
      <p:sp>
        <p:nvSpPr>
          <p:cNvPr id="12" name="Picture Placeholder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a:lstStyle/>
          <a:p>
            <a:fld id="{CA325475-EA0F-49B2-A586-CC0D8CB91667}" type="datetime1">
              <a:rPr lang="en-US" smtClean="0"/>
              <a:pPr/>
              <a:t>3/18/2026</a:t>
            </a:fld>
            <a:endParaRPr lang="en-US" dirty="0"/>
          </a:p>
        </p:txBody>
      </p:sp>
      <p:sp>
        <p:nvSpPr>
          <p:cNvPr id="7" name="Footer Placeholder 6">
            <a:extLst>
              <a:ext uri="{FF2B5EF4-FFF2-40B4-BE49-F238E27FC236}">
                <a16:creationId xmlns:a16="http://schemas.microsoft.com/office/drawing/2014/main" id="{7EADEDE4-1283-DC77-8774-CE66A7FCFC57}"/>
              </a:ext>
            </a:extLst>
          </p:cNvPr>
          <p:cNvSpPr>
            <a:spLocks noGrp="1"/>
          </p:cNvSpPr>
          <p:nvPr>
            <p:ph type="ftr" sz="quarter" idx="20"/>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5">
            <a:extLst>
              <a:ext uri="{FF2B5EF4-FFF2-40B4-BE49-F238E27FC236}">
                <a16:creationId xmlns:a16="http://schemas.microsoft.com/office/drawing/2014/main" id="{66BCA70D-4E1A-9515-CF3A-C9ADDAEA5180}"/>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7" name="Footer Placeholder 6">
            <a:extLst>
              <a:ext uri="{FF2B5EF4-FFF2-40B4-BE49-F238E27FC236}">
                <a16:creationId xmlns:a16="http://schemas.microsoft.com/office/drawing/2014/main" id="{6CE00F06-2901-FA79-7DB4-8439628B19A8}"/>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anchor="ct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anchor="b"/>
          <a:lstStyle>
            <a:lvl1pPr>
              <a:defRPr sz="3200"/>
            </a:lvl1pPr>
          </a:lstStyle>
          <a:p>
            <a:r>
              <a:rPr lang="en-US" dirty="0"/>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A73ECB8-1DC2-18B7-FB61-C5B409B1D3AB}"/>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5" name="Footer Placeholder 4">
            <a:extLst>
              <a:ext uri="{FF2B5EF4-FFF2-40B4-BE49-F238E27FC236}">
                <a16:creationId xmlns:a16="http://schemas.microsoft.com/office/drawing/2014/main" id="{EF837014-2CDD-1654-954A-3CFB437B0F79}"/>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anchor="b"/>
          <a:lstStyle>
            <a:lvl1pPr>
              <a:defRPr sz="3200"/>
            </a:lvl1pPr>
          </a:lstStyle>
          <a:p>
            <a:r>
              <a:rPr lang="en-US" dirty="0"/>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CA039A1F-C7CE-E7D6-1B4E-1ACBB57F36D3}"/>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5" name="Footer Placeholder 4">
            <a:extLst>
              <a:ext uri="{FF2B5EF4-FFF2-40B4-BE49-F238E27FC236}">
                <a16:creationId xmlns:a16="http://schemas.microsoft.com/office/drawing/2014/main" id="{C0016FB1-CC33-21DB-78A1-2A47153DDE34}"/>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anchor="ctr" anchorCtr="0">
            <a:normAutofit/>
          </a:bodyPr>
          <a:lstStyle>
            <a:lvl1pPr>
              <a:defRPr sz="4000"/>
            </a:lvl1pPr>
          </a:lstStyle>
          <a:p>
            <a:r>
              <a:rPr lang="en-US" dirty="0"/>
              <a:t>Click to edit Master title style</a:t>
            </a:r>
          </a:p>
        </p:txBody>
      </p:sp>
      <p:sp>
        <p:nvSpPr>
          <p:cNvPr id="10" name="Picture Placeholder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C97157FB-CF65-571C-117F-F8FAD8D9FF52}"/>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7" name="Footer Placeholder 6">
            <a:extLst>
              <a:ext uri="{FF2B5EF4-FFF2-40B4-BE49-F238E27FC236}">
                <a16:creationId xmlns:a16="http://schemas.microsoft.com/office/drawing/2014/main" id="{F57136A7-5DB5-FAF4-1437-4CDA5E545739}"/>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a:lstStyle/>
          <a:p>
            <a:fld id="{CC057153-B650-4DEB-B370-79DDCFDCE934}" type="slidenum">
              <a:rPr lang="en-US" smtClean="0"/>
              <a:pPr/>
              <a:t>‹#›</a:t>
            </a:fld>
            <a:endParaRPr lang="en-US" dirty="0"/>
          </a:p>
        </p:txBody>
      </p:sp>
      <p:sp>
        <p:nvSpPr>
          <p:cNvPr id="11" name="Rectangle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lvl1pPr>
              <a:defRPr sz="4000"/>
            </a:lvl1pPr>
          </a:lstStyle>
          <a:p>
            <a:r>
              <a:rPr lang="en-US" dirty="0"/>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BA4BF609-8734-8C2B-E441-E7DBAE6E3BDA}"/>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5" name="Footer Placeholder 4">
            <a:extLst>
              <a:ext uri="{FF2B5EF4-FFF2-40B4-BE49-F238E27FC236}">
                <a16:creationId xmlns:a16="http://schemas.microsoft.com/office/drawing/2014/main" id="{F7450EF1-CAAF-B39A-ED1F-4F967B0786C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A1E56C7E-4D47-A5C6-F745-1B24CC384826}"/>
              </a:ext>
            </a:extLst>
          </p:cNvPr>
          <p:cNvSpPr>
            <a:spLocks noGrp="1"/>
          </p:cNvSpPr>
          <p:nvPr>
            <p:ph type="dt" sz="half" idx="19"/>
          </p:nvPr>
        </p:nvSpPr>
        <p:spPr/>
        <p:txBody>
          <a:bodyPr/>
          <a:lstStyle/>
          <a:p>
            <a:fld id="{CA325475-EA0F-49B2-A586-CC0D8CB91667}" type="datetime1">
              <a:rPr lang="en-US" smtClean="0"/>
              <a:pPr/>
              <a:t>3/18/2026</a:t>
            </a:fld>
            <a:endParaRPr lang="en-US" dirty="0"/>
          </a:p>
        </p:txBody>
      </p:sp>
      <p:sp>
        <p:nvSpPr>
          <p:cNvPr id="7" name="Footer Placeholder 6">
            <a:extLst>
              <a:ext uri="{FF2B5EF4-FFF2-40B4-BE49-F238E27FC236}">
                <a16:creationId xmlns:a16="http://schemas.microsoft.com/office/drawing/2014/main" id="{ECE34178-1A83-36BE-0EBF-390C6CB30C87}"/>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a:normAutofit/>
          </a:bodyPr>
          <a:lstStyle>
            <a:lvl1pPr>
              <a:lnSpc>
                <a:spcPct val="110000"/>
              </a:lnSpc>
              <a:defRPr sz="18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anchor="b">
            <a:normAutofit/>
          </a:bodyPr>
          <a:lstStyle>
            <a:lvl1pPr marL="0" indent="0">
              <a:lnSpc>
                <a:spcPct val="90000"/>
              </a:lnSpc>
              <a:buNone/>
              <a:defRPr sz="19300" b="1" baseline="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3/18/2026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3/18/2026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3/18/2026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a:lstStyle/>
          <a:p>
            <a:r>
              <a:rPr lang="en-US" dirty="0"/>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3/18/2026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a:lstStyle/>
          <a:p>
            <a:r>
              <a:rPr lang="en-US" dirty="0"/>
              <a:t>Click to edit Master title style</a:t>
            </a:r>
          </a:p>
        </p:txBody>
      </p:sp>
      <p:sp>
        <p:nvSpPr>
          <p:cNvPr id="11" name="Content Placeholder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3/18/2026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a:lstStyle/>
          <a:p>
            <a:r>
              <a:rPr lang="en-US" dirty="0"/>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3/18/2026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3/18/2026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3/18/2026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3/18/2026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a:lstStyle>
            <a:lvl1pPr>
              <a:defRPr/>
            </a:lvl1pPr>
          </a:lstStyle>
          <a:p>
            <a:r>
              <a:rPr lang="en-US" dirty="0"/>
              <a:t>Click to edit Master title style</a:t>
            </a:r>
          </a:p>
        </p:txBody>
      </p:sp>
      <p:sp>
        <p:nvSpPr>
          <p:cNvPr id="4" name="Content Placeholder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a:lstStyle>
            <a:lvl1pPr>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Content Placeholder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3/18/2026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3/18/2026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3/18/2026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3/18/2026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3/18/2026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anchor="ctr" anchorCtr="0">
            <a:normAutofit/>
          </a:bodyPr>
          <a:lstStyle>
            <a:lvl1pPr>
              <a:defRPr sz="48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1E6060-C53E-4F28-8D83-0C4FB26C4A3F}"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anchor="b" anchorCtr="0">
            <a:no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3D1E3E-5DD4-4BAD-A138-1254BF94C224}"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fld id="{CA325475-EA0F-49B2-A586-CC0D8CB91667}" type="datetime1">
              <a:rPr lang="en-US" smtClean="0"/>
              <a:pPr/>
              <a:t>3/18/2026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F7174-E20C-FD16-00DA-BADB8FF61B2F}"/>
              </a:ext>
            </a:extLst>
          </p:cNvPr>
          <p:cNvSpPr>
            <a:spLocks noGrp="1"/>
          </p:cNvSpPr>
          <p:nvPr>
            <p:ph type="ctrTitle"/>
          </p:nvPr>
        </p:nvSpPr>
        <p:spPr>
          <a:xfrm>
            <a:off x="819301" y="840278"/>
            <a:ext cx="4337407" cy="3739896"/>
          </a:xfrm>
        </p:spPr>
        <p:txBody>
          <a:bodyPr anchor="t">
            <a:normAutofit/>
          </a:bodyPr>
          <a:lstStyle/>
          <a:p>
            <a:r>
              <a:rPr lang="en-US"/>
              <a:t>Credit Card Fraud Detection: Executive Overview</a:t>
            </a:r>
          </a:p>
        </p:txBody>
      </p:sp>
      <p:sp>
        <p:nvSpPr>
          <p:cNvPr id="3" name="Subtitle 2">
            <a:extLst>
              <a:ext uri="{FF2B5EF4-FFF2-40B4-BE49-F238E27FC236}">
                <a16:creationId xmlns:a16="http://schemas.microsoft.com/office/drawing/2014/main" id="{19E7A620-10B2-B145-2F0E-0C185DFB4E71}"/>
              </a:ext>
            </a:extLst>
          </p:cNvPr>
          <p:cNvSpPr>
            <a:spLocks noGrp="1"/>
          </p:cNvSpPr>
          <p:nvPr>
            <p:ph type="subTitle" idx="1"/>
          </p:nvPr>
        </p:nvSpPr>
        <p:spPr>
          <a:xfrm>
            <a:off x="822452" y="4668118"/>
            <a:ext cx="4334256" cy="1380744"/>
          </a:xfrm>
        </p:spPr>
        <p:txBody>
          <a:bodyPr anchor="b">
            <a:normAutofit/>
          </a:bodyPr>
          <a:lstStyle/>
          <a:p>
            <a:r>
              <a:rPr lang="en-US"/>
              <a:t>Protecting transactions with advanced security technology</a:t>
            </a:r>
          </a:p>
        </p:txBody>
      </p:sp>
      <p:pic>
        <p:nvPicPr>
          <p:cNvPr id="5" name="Picture Placeholder 4" descr="Digital security concept on binary data code">
            <a:extLst>
              <a:ext uri="{FF2B5EF4-FFF2-40B4-BE49-F238E27FC236}">
                <a16:creationId xmlns:a16="http://schemas.microsoft.com/office/drawing/2014/main" id="{019AAFF4-1D32-4A0A-BE7C-B3E1436F9C4F}"/>
              </a:ext>
            </a:extLst>
          </p:cNvPr>
          <p:cNvPicPr>
            <a:picLocks noGrp="1" noChangeAspect="1"/>
          </p:cNvPicPr>
          <p:nvPr>
            <p:ph type="pic" sz="quarter" idx="18"/>
          </p:nvPr>
        </p:nvPicPr>
        <p:blipFill>
          <a:blip r:embed="rId3"/>
          <a:srcRect l="12762" r="12762"/>
          <a:stretch/>
        </p:blipFill>
        <p:spPr>
          <a:xfrm>
            <a:off x="5752063" y="362624"/>
            <a:ext cx="6089904" cy="6132752"/>
          </a:xfrm>
          <a:blipFill>
            <a:blip r:embed="rId4">
              <a:alphaModFix amt="70000"/>
              <a:extLst>
                <a:ext uri="{28A0092B-C50C-407E-A947-70E740481C1C}">
                  <a14:useLocalDpi xmlns:a14="http://schemas.microsoft.com/office/drawing/2010/main" val="0"/>
                </a:ext>
              </a:extLst>
            </a:blip>
            <a:stretch>
              <a:fillRect/>
            </a:stretch>
          </a:blipFill>
        </p:spPr>
      </p:pic>
    </p:spTree>
    <p:extLst>
      <p:ext uri="{BB962C8B-B14F-4D97-AF65-F5344CB8AC3E}">
        <p14:creationId xmlns:p14="http://schemas.microsoft.com/office/powerpoint/2010/main" val="230417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EA5D6-B662-3B95-C213-88581DD0D948}"/>
              </a:ext>
            </a:extLst>
          </p:cNvPr>
          <p:cNvSpPr>
            <a:spLocks noGrp="1"/>
          </p:cNvSpPr>
          <p:nvPr>
            <p:ph type="title"/>
          </p:nvPr>
        </p:nvSpPr>
        <p:spPr>
          <a:xfrm>
            <a:off x="1474076" y="1359775"/>
            <a:ext cx="7909560" cy="4334256"/>
          </a:xfrm>
        </p:spPr>
        <p:txBody>
          <a:bodyPr anchor="b">
            <a:normAutofit/>
          </a:bodyPr>
          <a:lstStyle/>
          <a:p>
            <a:r>
              <a:rPr lang="en-US"/>
              <a:t>Business Context and Analytical Approach</a:t>
            </a:r>
          </a:p>
        </p:txBody>
      </p:sp>
    </p:spTree>
    <p:extLst>
      <p:ext uri="{BB962C8B-B14F-4D97-AF65-F5344CB8AC3E}">
        <p14:creationId xmlns:p14="http://schemas.microsoft.com/office/powerpoint/2010/main" val="1417634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D8186-7EFE-A0FD-7229-E0970A0742A4}"/>
              </a:ext>
            </a:extLst>
          </p:cNvPr>
          <p:cNvSpPr>
            <a:spLocks noGrp="1"/>
          </p:cNvSpPr>
          <p:nvPr>
            <p:ph type="title"/>
          </p:nvPr>
        </p:nvSpPr>
        <p:spPr>
          <a:xfrm>
            <a:off x="612648" y="599599"/>
            <a:ext cx="4672584" cy="1453896"/>
          </a:xfrm>
        </p:spPr>
        <p:txBody>
          <a:bodyPr anchor="t">
            <a:normAutofit/>
          </a:bodyPr>
          <a:lstStyle/>
          <a:p>
            <a:r>
              <a:rPr lang="en-US" sz="3100"/>
              <a:t>Business Problem: Credit Card Fraud in Highly Imbalanced Data</a:t>
            </a:r>
          </a:p>
        </p:txBody>
      </p:sp>
      <p:pic>
        <p:nvPicPr>
          <p:cNvPr id="5" name="Content Placeholder 4" descr="Personal Cyber  People Security 3d background">
            <a:extLst>
              <a:ext uri="{FF2B5EF4-FFF2-40B4-BE49-F238E27FC236}">
                <a16:creationId xmlns:a16="http://schemas.microsoft.com/office/drawing/2014/main" id="{D94675DD-2C49-4AF6-A36E-A533552F77F9}"/>
              </a:ext>
            </a:extLst>
          </p:cNvPr>
          <p:cNvPicPr>
            <a:picLocks noGrp="1" noChangeAspect="1"/>
          </p:cNvPicPr>
          <p:nvPr>
            <p:ph type="pic" sz="quarter" idx="15"/>
          </p:nvPr>
        </p:nvPicPr>
        <p:blipFill>
          <a:blip r:embed="rId3"/>
          <a:srcRect l="4607" r="3" b="3"/>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4D49A87F-8AD1-DEC5-A79B-B82B41061E5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Imbalanced Fraud Detection Challenge</a:t>
            </a:r>
          </a:p>
          <a:p>
            <a:pPr marL="0" lvl="1" indent="0">
              <a:buFont typeface="Arial" panose="020B0604020202020204" pitchFamily="34" charset="0"/>
              <a:buNone/>
            </a:pPr>
            <a:r>
              <a:t>Credit card fraud is rare but causes significant financial loss, making detection a high-stakes imbalanced classification problem.</a:t>
            </a:r>
            <a:endParaRPr lang="en-US"/>
          </a:p>
          <a:p>
            <a:pPr marL="0" indent="0">
              <a:spcBef>
                <a:spcPts val="2500"/>
              </a:spcBef>
              <a:buFont typeface="Arial" panose="020B0604020202020204" pitchFamily="34" charset="0"/>
              <a:buNone/>
            </a:pPr>
            <a:r>
              <a:rPr lang="en-US" b="1"/>
              <a:t>Balancing Recall and False Positives</a:t>
            </a:r>
          </a:p>
          <a:p>
            <a:pPr marL="0" lvl="1" indent="0">
              <a:buFont typeface="Arial" panose="020B0604020202020204" pitchFamily="34" charset="0"/>
              <a:buNone/>
            </a:pPr>
            <a:r>
              <a:t>Detecting fraud requires high recall while minimizing false positives to reduce costs and customer friction.</a:t>
            </a:r>
            <a:endParaRPr lang="en-US"/>
          </a:p>
          <a:p>
            <a:pPr marL="0" indent="0">
              <a:spcBef>
                <a:spcPts val="2500"/>
              </a:spcBef>
              <a:buFont typeface="Arial" panose="020B0604020202020204" pitchFamily="34" charset="0"/>
              <a:buNone/>
            </a:pPr>
            <a:r>
              <a:rPr lang="en-US" b="1"/>
              <a:t>Business-focused ML Pipeline</a:t>
            </a:r>
          </a:p>
          <a:p>
            <a:pPr marL="0" lvl="1" indent="0">
              <a:buFont typeface="Arial" panose="020B0604020202020204" pitchFamily="34" charset="0"/>
              <a:buNone/>
            </a:pPr>
            <a:r>
              <a:t>A transparent machine learning pipeline balances predictive accuracy with operational feasibility and auditability.</a:t>
            </a:r>
            <a:endParaRPr lang="en-US"/>
          </a:p>
          <a:p>
            <a:pPr marL="0" indent="0">
              <a:spcBef>
                <a:spcPts val="2500"/>
              </a:spcBef>
              <a:buFont typeface="Arial" panose="020B0604020202020204" pitchFamily="34" charset="0"/>
              <a:buNone/>
            </a:pPr>
            <a:r>
              <a:rPr lang="en-US" b="1"/>
              <a:t>Justifying Models to Stakeholders</a:t>
            </a:r>
          </a:p>
          <a:p>
            <a:pPr marL="0" lvl="1" indent="0">
              <a:buFont typeface="Arial" panose="020B0604020202020204" pitchFamily="34" charset="0"/>
              <a:buNone/>
            </a:pPr>
            <a:r>
              <a:t>Framing fraud detection in business terms ensures model decisions are understandable to auditors and regulators.</a:t>
            </a:r>
            <a:endParaRPr lang="en-US"/>
          </a:p>
        </p:txBody>
      </p:sp>
    </p:spTree>
    <p:extLst>
      <p:ext uri="{BB962C8B-B14F-4D97-AF65-F5344CB8AC3E}">
        <p14:creationId xmlns:p14="http://schemas.microsoft.com/office/powerpoint/2010/main" val="180364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0BCBA-3788-39B6-91F4-5AE575BF50C5}"/>
              </a:ext>
            </a:extLst>
          </p:cNvPr>
          <p:cNvSpPr>
            <a:spLocks noGrp="1"/>
          </p:cNvSpPr>
          <p:nvPr>
            <p:ph type="title"/>
          </p:nvPr>
        </p:nvSpPr>
        <p:spPr>
          <a:xfrm>
            <a:off x="612648" y="599599"/>
            <a:ext cx="4672584" cy="1453896"/>
          </a:xfrm>
        </p:spPr>
        <p:txBody>
          <a:bodyPr anchor="t">
            <a:normAutofit/>
          </a:bodyPr>
          <a:lstStyle/>
          <a:p>
            <a:r>
              <a:rPr lang="en-US"/>
              <a:t>Dataset Characteristics and Imbalance Challenge</a:t>
            </a:r>
          </a:p>
        </p:txBody>
      </p:sp>
      <p:pic>
        <p:nvPicPr>
          <p:cNvPr id="5" name="Content Placeholder 4" descr="Online internet Banking digital backround on the circuit board">
            <a:extLst>
              <a:ext uri="{FF2B5EF4-FFF2-40B4-BE49-F238E27FC236}">
                <a16:creationId xmlns:a16="http://schemas.microsoft.com/office/drawing/2014/main" id="{98ECC858-8672-476E-B3BF-64F69F273D44}"/>
              </a:ext>
            </a:extLst>
          </p:cNvPr>
          <p:cNvPicPr>
            <a:picLocks noGrp="1" noChangeAspect="1"/>
          </p:cNvPicPr>
          <p:nvPr>
            <p:ph type="pic" sz="quarter" idx="15"/>
          </p:nvPr>
        </p:nvPicPr>
        <p:blipFill>
          <a:blip r:embed="rId3"/>
          <a:srcRect l="2361" r="2248" b="3"/>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4E53ABEF-0837-FA8E-953E-ED275594F0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Dataset Description</a:t>
            </a:r>
          </a:p>
          <a:p>
            <a:pPr marL="0" lvl="1" indent="0">
              <a:buFont typeface="Arial" panose="020B0604020202020204" pitchFamily="34" charset="0"/>
              <a:buNone/>
            </a:pPr>
            <a:r>
              <a:t>The dataset contains anonymized credit card transactions labeled as legitimate or fraudulent with numerical features.</a:t>
            </a:r>
            <a:endParaRPr lang="en-US"/>
          </a:p>
          <a:p>
            <a:pPr marL="0" indent="0">
              <a:spcBef>
                <a:spcPts val="2500"/>
              </a:spcBef>
              <a:buFont typeface="Arial" panose="020B0604020202020204" pitchFamily="34" charset="0"/>
              <a:buNone/>
            </a:pPr>
            <a:r>
              <a:rPr lang="en-US" b="1"/>
              <a:t>Class Imbalance Challenge</a:t>
            </a:r>
          </a:p>
          <a:p>
            <a:pPr marL="0" lvl="1" indent="0">
              <a:buFont typeface="Arial" panose="020B0604020202020204" pitchFamily="34" charset="0"/>
              <a:buNone/>
            </a:pPr>
            <a:r>
              <a:t>Fraudulent transactions form a very small fraction, causing models to be biased toward the majority class without corrections.</a:t>
            </a:r>
            <a:endParaRPr lang="en-US"/>
          </a:p>
          <a:p>
            <a:pPr marL="0" indent="0">
              <a:spcBef>
                <a:spcPts val="2500"/>
              </a:spcBef>
              <a:buFont typeface="Arial" panose="020B0604020202020204" pitchFamily="34" charset="0"/>
              <a:buNone/>
            </a:pPr>
            <a:r>
              <a:rPr lang="en-US" b="1"/>
              <a:t>Evaluation Metrics Importance</a:t>
            </a:r>
          </a:p>
          <a:p>
            <a:pPr marL="0" lvl="1" indent="0">
              <a:buFont typeface="Arial" panose="020B0604020202020204" pitchFamily="34" charset="0"/>
              <a:buNone/>
            </a:pPr>
            <a:r>
              <a:t>Metrics like precision, recall, F1-score, and ROC-AUC are essential to properly evaluate fraud detection performance.</a:t>
            </a:r>
            <a:endParaRPr lang="en-US"/>
          </a:p>
          <a:p>
            <a:pPr marL="0" indent="0">
              <a:spcBef>
                <a:spcPts val="2500"/>
              </a:spcBef>
              <a:buFont typeface="Arial" panose="020B0604020202020204" pitchFamily="34" charset="0"/>
              <a:buNone/>
            </a:pPr>
            <a:r>
              <a:rPr lang="en-US" b="1"/>
              <a:t>Business Impact Considerations</a:t>
            </a:r>
          </a:p>
          <a:p>
            <a:pPr marL="0" lvl="1" indent="0">
              <a:buFont typeface="Arial" panose="020B0604020202020204" pitchFamily="34" charset="0"/>
              <a:buNone/>
            </a:pPr>
            <a:r>
              <a:t>Balancing recall and precision avoids overwhelming fraud teams and maintains a good customer experience.</a:t>
            </a:r>
            <a:endParaRPr lang="en-US"/>
          </a:p>
        </p:txBody>
      </p:sp>
    </p:spTree>
    <p:extLst>
      <p:ext uri="{BB962C8B-B14F-4D97-AF65-F5344CB8AC3E}">
        <p14:creationId xmlns:p14="http://schemas.microsoft.com/office/powerpoint/2010/main" val="27386920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7CA7A-F621-4853-8A50-B743BD73A872}"/>
              </a:ext>
            </a:extLst>
          </p:cNvPr>
          <p:cNvSpPr>
            <a:spLocks noGrp="1"/>
          </p:cNvSpPr>
          <p:nvPr>
            <p:ph type="title"/>
          </p:nvPr>
        </p:nvSpPr>
        <p:spPr>
          <a:xfrm>
            <a:off x="612648" y="599599"/>
            <a:ext cx="4672584" cy="1453896"/>
          </a:xfrm>
        </p:spPr>
        <p:txBody>
          <a:bodyPr anchor="t">
            <a:normAutofit/>
          </a:bodyPr>
          <a:lstStyle/>
          <a:p>
            <a:r>
              <a:rPr lang="en-US"/>
              <a:t>Modeling Strategy and Baseline Selection</a:t>
            </a:r>
          </a:p>
        </p:txBody>
      </p:sp>
      <p:pic>
        <p:nvPicPr>
          <p:cNvPr id="5" name="Content Placeholder 4" descr="Shiny pyramid greenhouse sustainable growth and finance concept">
            <a:extLst>
              <a:ext uri="{FF2B5EF4-FFF2-40B4-BE49-F238E27FC236}">
                <a16:creationId xmlns:a16="http://schemas.microsoft.com/office/drawing/2014/main" id="{568F40EC-E8E5-4993-A56F-88C8DA744DAF}"/>
              </a:ext>
            </a:extLst>
          </p:cNvPr>
          <p:cNvPicPr>
            <a:picLocks noGrp="1" noChangeAspect="1"/>
          </p:cNvPicPr>
          <p:nvPr>
            <p:ph type="pic" sz="quarter" idx="15"/>
          </p:nvPr>
        </p:nvPicPr>
        <p:blipFill>
          <a:blip r:embed="rId3"/>
          <a:srcRect l="15100"/>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0AEA5E71-4AE1-1A5F-4C92-078DEB1B2DC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Baseline Logistic Regression</a:t>
            </a:r>
          </a:p>
          <a:p>
            <a:pPr marL="0" lvl="1" indent="0">
              <a:buFont typeface="Arial" panose="020B0604020202020204" pitchFamily="34" charset="0"/>
              <a:buNone/>
            </a:pPr>
            <a:r>
              <a:t>Logistic regression serves as a simple, interpretable baseline model ensuring data pipeline correctness and minimum performance.</a:t>
            </a:r>
            <a:endParaRPr lang="en-US"/>
          </a:p>
          <a:p>
            <a:pPr marL="0" indent="0">
              <a:spcBef>
                <a:spcPts val="2500"/>
              </a:spcBef>
              <a:buFont typeface="Arial" panose="020B0604020202020204" pitchFamily="34" charset="0"/>
              <a:buNone/>
            </a:pPr>
            <a:r>
              <a:rPr lang="en-US" b="1"/>
              <a:t>Random Forest Classifier</a:t>
            </a:r>
          </a:p>
          <a:p>
            <a:pPr marL="0" lvl="1" indent="0">
              <a:buFont typeface="Arial" panose="020B0604020202020204" pitchFamily="34" charset="0"/>
              <a:buNone/>
            </a:pPr>
            <a:r>
              <a:t>Random Forest captures complex feature interactions and non-linear relationships for improved performance on tabular data.</a:t>
            </a:r>
            <a:endParaRPr lang="en-US"/>
          </a:p>
          <a:p>
            <a:pPr marL="0" indent="0">
              <a:spcBef>
                <a:spcPts val="2500"/>
              </a:spcBef>
              <a:buFont typeface="Arial" panose="020B0604020202020204" pitchFamily="34" charset="0"/>
              <a:buNone/>
            </a:pPr>
            <a:r>
              <a:rPr lang="en-US" b="1"/>
              <a:t>Consistent Evaluation</a:t>
            </a:r>
          </a:p>
          <a:p>
            <a:pPr marL="0" lvl="1" indent="0">
              <a:buFont typeface="Arial" panose="020B0604020202020204" pitchFamily="34" charset="0"/>
              <a:buNone/>
            </a:pPr>
            <a:r>
              <a:t>Both models use identical data splits and metrics to ensure fair comparison and valid performance assessment.</a:t>
            </a:r>
            <a:endParaRPr lang="en-US"/>
          </a:p>
          <a:p>
            <a:pPr marL="0" indent="0">
              <a:spcBef>
                <a:spcPts val="2500"/>
              </a:spcBef>
              <a:buFont typeface="Arial" panose="020B0604020202020204" pitchFamily="34" charset="0"/>
              <a:buNone/>
            </a:pPr>
            <a:r>
              <a:rPr lang="en-US" b="1"/>
              <a:t>Incremental Model Complexity</a:t>
            </a:r>
          </a:p>
          <a:p>
            <a:pPr marL="0" lvl="1" indent="0">
              <a:buFont typeface="Arial" panose="020B0604020202020204" pitchFamily="34" charset="0"/>
              <a:buNone/>
            </a:pPr>
            <a:r>
              <a:t>Stepwise escalation in model complexity ensures transparency and justifies advanced methods only when beneficial.</a:t>
            </a:r>
            <a:endParaRPr lang="en-US"/>
          </a:p>
        </p:txBody>
      </p:sp>
    </p:spTree>
    <p:extLst>
      <p:ext uri="{BB962C8B-B14F-4D97-AF65-F5344CB8AC3E}">
        <p14:creationId xmlns:p14="http://schemas.microsoft.com/office/powerpoint/2010/main" val="3496766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6885-B354-AA93-BA2B-EA1BA8959CA1}"/>
              </a:ext>
            </a:extLst>
          </p:cNvPr>
          <p:cNvSpPr>
            <a:spLocks noGrp="1"/>
          </p:cNvSpPr>
          <p:nvPr>
            <p:ph type="title"/>
          </p:nvPr>
        </p:nvSpPr>
        <p:spPr>
          <a:xfrm>
            <a:off x="612648" y="599599"/>
            <a:ext cx="4672584" cy="1453896"/>
          </a:xfrm>
        </p:spPr>
        <p:txBody>
          <a:bodyPr anchor="t">
            <a:normAutofit/>
          </a:bodyPr>
          <a:lstStyle/>
          <a:p>
            <a:r>
              <a:rPr lang="en-US"/>
              <a:t>Handling Class Imbalance with SMOTE</a:t>
            </a:r>
          </a:p>
        </p:txBody>
      </p:sp>
      <p:pic>
        <p:nvPicPr>
          <p:cNvPr id="5" name="Content Placeholder 4" descr="Rearview shot of a businessman sitting at his desk in the office">
            <a:extLst>
              <a:ext uri="{FF2B5EF4-FFF2-40B4-BE49-F238E27FC236}">
                <a16:creationId xmlns:a16="http://schemas.microsoft.com/office/drawing/2014/main" id="{8CF84C53-C536-446E-AA9D-22C5EE58DEC2}"/>
              </a:ext>
            </a:extLst>
          </p:cNvPr>
          <p:cNvPicPr>
            <a:picLocks noGrp="1" noChangeAspect="1"/>
          </p:cNvPicPr>
          <p:nvPr>
            <p:ph type="pic" sz="quarter" idx="15"/>
          </p:nvPr>
        </p:nvPicPr>
        <p:blipFill>
          <a:blip r:embed="rId3"/>
          <a:srcRect r="16691" b="1"/>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F6B007F1-EA4B-D7D5-2C37-595BE3E7185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SMOTE Overview</a:t>
            </a:r>
          </a:p>
          <a:p>
            <a:pPr marL="0" lvl="1" indent="0">
              <a:buFont typeface="Arial" panose="020B0604020202020204" pitchFamily="34" charset="0"/>
              <a:buNone/>
            </a:pPr>
            <a:r>
              <a:t>SMOTE generates synthetic minority-class samples by interpolating existing data points to address class imbalance.</a:t>
            </a:r>
            <a:endParaRPr lang="en-US"/>
          </a:p>
          <a:p>
            <a:pPr marL="0" indent="0">
              <a:spcBef>
                <a:spcPts val="2500"/>
              </a:spcBef>
              <a:buFont typeface="Arial" panose="020B0604020202020204" pitchFamily="34" charset="0"/>
              <a:buNone/>
            </a:pPr>
            <a:r>
              <a:rPr lang="en-US" b="1"/>
              <a:t>Model Performance Improvement</a:t>
            </a:r>
          </a:p>
          <a:p>
            <a:pPr marL="0" lvl="1" indent="0">
              <a:buFont typeface="Arial" panose="020B0604020202020204" pitchFamily="34" charset="0"/>
              <a:buNone/>
            </a:pPr>
            <a:r>
              <a:t>Using SMOTE with Random Forest improves fraud detection recall while maintaining acceptable precision levels.</a:t>
            </a:r>
            <a:endParaRPr lang="en-US"/>
          </a:p>
          <a:p>
            <a:pPr marL="0" indent="0">
              <a:spcBef>
                <a:spcPts val="2500"/>
              </a:spcBef>
              <a:buFont typeface="Arial" panose="020B0604020202020204" pitchFamily="34" charset="0"/>
              <a:buNone/>
            </a:pPr>
            <a:r>
              <a:rPr lang="en-US" b="1"/>
              <a:t>Advantages and Limitations</a:t>
            </a:r>
          </a:p>
          <a:p>
            <a:pPr marL="0" lvl="1" indent="0">
              <a:buFont typeface="Arial" panose="020B0604020202020204" pitchFamily="34" charset="0"/>
              <a:buNone/>
            </a:pPr>
            <a:r>
              <a:t>SMOTE is simple, fast, and interpretable but may struggle with complex or multimodal fraud patterns.</a:t>
            </a:r>
            <a:endParaRPr lang="en-US"/>
          </a:p>
          <a:p>
            <a:pPr marL="0" indent="0">
              <a:spcBef>
                <a:spcPts val="2500"/>
              </a:spcBef>
              <a:buFont typeface="Arial" panose="020B0604020202020204" pitchFamily="34" charset="0"/>
              <a:buNone/>
            </a:pPr>
            <a:r>
              <a:rPr lang="en-US" b="1"/>
              <a:t>Application Best Practices</a:t>
            </a:r>
          </a:p>
          <a:p>
            <a:pPr marL="0" lvl="1" indent="0">
              <a:buFont typeface="Arial" panose="020B0604020202020204" pitchFamily="34" charset="0"/>
              <a:buNone/>
            </a:pPr>
            <a:r>
              <a:t>Apply SMOTE only to training data to preserve test set integrity and ensure fair evaluation.</a:t>
            </a:r>
            <a:endParaRPr lang="en-US"/>
          </a:p>
        </p:txBody>
      </p:sp>
    </p:spTree>
    <p:extLst>
      <p:ext uri="{BB962C8B-B14F-4D97-AF65-F5344CB8AC3E}">
        <p14:creationId xmlns:p14="http://schemas.microsoft.com/office/powerpoint/2010/main" val="30232308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8A2AA-ADEC-B3B2-D307-CFB17685675E}"/>
              </a:ext>
            </a:extLst>
          </p:cNvPr>
          <p:cNvSpPr>
            <a:spLocks noGrp="1"/>
          </p:cNvSpPr>
          <p:nvPr>
            <p:ph type="title"/>
          </p:nvPr>
        </p:nvSpPr>
        <p:spPr>
          <a:xfrm>
            <a:off x="2785872" y="2130552"/>
            <a:ext cx="6620256" cy="1069848"/>
          </a:xfrm>
        </p:spPr>
        <p:txBody>
          <a:bodyPr anchor="b">
            <a:normAutofit/>
          </a:bodyPr>
          <a:lstStyle/>
          <a:p>
            <a:r>
              <a:rPr lang="en-US"/>
              <a:t>Advanced Synthesis: SMOTE vs GAN Comparison</a:t>
            </a:r>
          </a:p>
        </p:txBody>
      </p:sp>
      <p:graphicFrame>
        <p:nvGraphicFramePr>
          <p:cNvPr id="5" name="Content Placeholder 4">
            <a:extLst>
              <a:ext uri="{FF2B5EF4-FFF2-40B4-BE49-F238E27FC236}">
                <a16:creationId xmlns:a16="http://schemas.microsoft.com/office/drawing/2014/main" id="{FF0BFEBC-AD4E-4D84-8519-590B07692746}"/>
              </a:ext>
            </a:extLst>
          </p:cNvPr>
          <p:cNvGraphicFramePr>
            <a:graphicFrameLocks noGrp="1"/>
          </p:cNvGraphicFramePr>
          <p:nvPr>
            <p:ph sz="quarter" idx="13"/>
          </p:nvPr>
        </p:nvGraphicFramePr>
        <p:xfrm>
          <a:off x="3980184" y="3337560"/>
          <a:ext cx="4231633" cy="1645923"/>
        </p:xfrm>
        <a:graphic>
          <a:graphicData uri="http://schemas.openxmlformats.org/drawingml/2006/table">
            <a:tbl>
              <a:tblPr firstRow="1" bandRow="1">
                <a:noFill/>
                <a:tableStyleId>{5C22544A-7EE6-4342-B048-85BDC9FD1C3A}</a:tableStyleId>
              </a:tblPr>
              <a:tblGrid>
                <a:gridCol w="1445931">
                  <a:extLst>
                    <a:ext uri="{9D8B030D-6E8A-4147-A177-3AD203B41FA5}">
                      <a16:colId xmlns:a16="http://schemas.microsoft.com/office/drawing/2014/main" val="995467380"/>
                    </a:ext>
                  </a:extLst>
                </a:gridCol>
                <a:gridCol w="1364848">
                  <a:extLst>
                    <a:ext uri="{9D8B030D-6E8A-4147-A177-3AD203B41FA5}">
                      <a16:colId xmlns:a16="http://schemas.microsoft.com/office/drawing/2014/main" val="1657963232"/>
                    </a:ext>
                  </a:extLst>
                </a:gridCol>
                <a:gridCol w="1420854">
                  <a:extLst>
                    <a:ext uri="{9D8B030D-6E8A-4147-A177-3AD203B41FA5}">
                      <a16:colId xmlns:a16="http://schemas.microsoft.com/office/drawing/2014/main" val="579156511"/>
                    </a:ext>
                  </a:extLst>
                </a:gridCol>
              </a:tblGrid>
              <a:tr h="276856">
                <a:tc>
                  <a:txBody>
                    <a:bodyPr/>
                    <a:lstStyle/>
                    <a:p>
                      <a:pPr>
                        <a:buNone/>
                      </a:pPr>
                      <a:r>
                        <a:rPr lang="en-US" sz="800" b="1" cap="all" spc="150">
                          <a:solidFill>
                            <a:schemeClr val="tx1"/>
                          </a:solidFill>
                        </a:rPr>
                        <a:t>Aspect</a:t>
                      </a:r>
                    </a:p>
                  </a:txBody>
                  <a:tcPr marL="68453" marR="68453" marT="68453" marB="6845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800" b="1" cap="all" spc="150">
                          <a:solidFill>
                            <a:schemeClr val="tx1"/>
                          </a:solidFill>
                        </a:rPr>
                        <a:t>SMOTE</a:t>
                      </a:r>
                    </a:p>
                  </a:txBody>
                  <a:tcPr marL="68453" marR="68453" marT="68453" marB="6845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800" b="1" cap="all" spc="150">
                          <a:solidFill>
                            <a:schemeClr val="tx1"/>
                          </a:solidFill>
                        </a:rPr>
                        <a:t>GAN</a:t>
                      </a:r>
                    </a:p>
                  </a:txBody>
                  <a:tcPr marL="68453" marR="68453" marT="68453" marB="68453"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1072077804"/>
                  </a:ext>
                </a:extLst>
              </a:tr>
              <a:tr h="254038">
                <a:tc>
                  <a:txBody>
                    <a:bodyPr/>
                    <a:lstStyle/>
                    <a:p>
                      <a:pPr>
                        <a:buNone/>
                      </a:pPr>
                      <a:r>
                        <a:rPr lang="en-US" sz="600" b="1" cap="none" spc="0">
                          <a:solidFill>
                            <a:schemeClr val="tx1"/>
                          </a:solidFill>
                        </a:rPr>
                        <a:t>Implementation Complexity</a:t>
                      </a:r>
                    </a:p>
                  </a:txBody>
                  <a:tcPr marL="68453" marR="68453" marT="68453" marB="6845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Low, widely supported</a:t>
                      </a:r>
                    </a:p>
                  </a:txBody>
                  <a:tcPr marL="68453" marR="68453" marT="68453" marB="6845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Medium to high, custom training</a:t>
                      </a:r>
                    </a:p>
                  </a:txBody>
                  <a:tcPr marL="68453" marR="68453" marT="68453" marB="6845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071540708"/>
                  </a:ext>
                </a:extLst>
              </a:tr>
              <a:tr h="254038">
                <a:tc>
                  <a:txBody>
                    <a:bodyPr/>
                    <a:lstStyle/>
                    <a:p>
                      <a:pPr>
                        <a:buNone/>
                      </a:pPr>
                      <a:r>
                        <a:rPr lang="en-US" sz="600" b="1" cap="none" spc="0">
                          <a:solidFill>
                            <a:schemeClr val="tx1"/>
                          </a:solidFill>
                        </a:rPr>
                        <a:t>Training Stability</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Stable and deterministic</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Risk of mode collapse</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84382190"/>
                  </a:ext>
                </a:extLst>
              </a:tr>
              <a:tr h="254038">
                <a:tc>
                  <a:txBody>
                    <a:bodyPr/>
                    <a:lstStyle/>
                    <a:p>
                      <a:pPr>
                        <a:buNone/>
                      </a:pPr>
                      <a:r>
                        <a:rPr lang="en-US" sz="600" b="1" cap="none" spc="0">
                          <a:solidFill>
                            <a:schemeClr val="tx1"/>
                          </a:solidFill>
                        </a:rPr>
                        <a:t>Data Realism</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Linear interpolation</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Non-linear pattern learning</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302727161"/>
                  </a:ext>
                </a:extLst>
              </a:tr>
              <a:tr h="254038">
                <a:tc>
                  <a:txBody>
                    <a:bodyPr/>
                    <a:lstStyle/>
                    <a:p>
                      <a:pPr>
                        <a:buNone/>
                      </a:pPr>
                      <a:r>
                        <a:rPr lang="en-US" sz="600" b="1" cap="none" spc="0">
                          <a:solidFill>
                            <a:schemeClr val="tx1"/>
                          </a:solidFill>
                        </a:rPr>
                        <a:t>Operational Risk</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Low</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Higher</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54666272"/>
                  </a:ext>
                </a:extLst>
              </a:tr>
              <a:tr h="352915">
                <a:tc>
                  <a:txBody>
                    <a:bodyPr/>
                    <a:lstStyle/>
                    <a:p>
                      <a:pPr>
                        <a:buNone/>
                      </a:pPr>
                      <a:r>
                        <a:rPr lang="en-US" sz="600" b="1" cap="none" spc="0">
                          <a:solidFill>
                            <a:schemeClr val="tx1"/>
                          </a:solidFill>
                        </a:rPr>
                        <a:t>Best Use Case</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600" cap="none" spc="0">
                          <a:solidFill>
                            <a:schemeClr val="tx1"/>
                          </a:solidFill>
                        </a:rPr>
                        <a:t>Production baseline</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600" cap="none" spc="0">
                          <a:solidFill>
                            <a:schemeClr val="tx1"/>
                          </a:solidFill>
                        </a:rPr>
                        <a:t>Advanced research or future enhancement</a:t>
                      </a:r>
                    </a:p>
                  </a:txBody>
                  <a:tcPr marL="68453" marR="68453" marT="68453" marB="6845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698648756"/>
                  </a:ext>
                </a:extLst>
              </a:tr>
            </a:tbl>
          </a:graphicData>
        </a:graphic>
      </p:graphicFrame>
    </p:spTree>
    <p:extLst>
      <p:ext uri="{BB962C8B-B14F-4D97-AF65-F5344CB8AC3E}">
        <p14:creationId xmlns:p14="http://schemas.microsoft.com/office/powerpoint/2010/main" val="381338138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4A74B-C4E2-09F6-CD10-F0A616A375DB}"/>
              </a:ext>
            </a:extLst>
          </p:cNvPr>
          <p:cNvSpPr>
            <a:spLocks noGrp="1"/>
          </p:cNvSpPr>
          <p:nvPr>
            <p:ph type="title"/>
          </p:nvPr>
        </p:nvSpPr>
        <p:spPr>
          <a:xfrm>
            <a:off x="7204306" y="817137"/>
            <a:ext cx="4192166" cy="1527048"/>
          </a:xfrm>
        </p:spPr>
        <p:txBody>
          <a:bodyPr anchor="b">
            <a:normAutofit/>
          </a:bodyPr>
          <a:lstStyle/>
          <a:p>
            <a:r>
              <a:rPr lang="en-US"/>
              <a:t>Results, Recommendation, and Next Steps</a:t>
            </a:r>
          </a:p>
        </p:txBody>
      </p:sp>
      <p:pic>
        <p:nvPicPr>
          <p:cNvPr id="5" name="Content Placeholder 4" descr="Scientists examines DNA models in modern Neurological Research Laboratory. Touch screens. Wearing clean suit and protective mask">
            <a:extLst>
              <a:ext uri="{FF2B5EF4-FFF2-40B4-BE49-F238E27FC236}">
                <a16:creationId xmlns:a16="http://schemas.microsoft.com/office/drawing/2014/main" id="{DA572450-598C-4978-9866-BCC88D90139A}"/>
              </a:ext>
            </a:extLst>
          </p:cNvPr>
          <p:cNvPicPr>
            <a:picLocks noGrp="1" noChangeAspect="1"/>
          </p:cNvPicPr>
          <p:nvPr>
            <p:ph type="pic" sz="quarter" idx="18"/>
          </p:nvPr>
        </p:nvPicPr>
        <p:blipFill>
          <a:blip r:embed="rId3"/>
          <a:stretch/>
        </p:blipFill>
        <p:spPr>
          <a:xfrm>
            <a:off x="349839" y="1664779"/>
            <a:ext cx="6272784" cy="3528441"/>
          </a:xfrm>
        </p:spPr>
      </p:pic>
      <p:sp>
        <p:nvSpPr>
          <p:cNvPr id="4" name="Content Placeholder 3">
            <a:extLst>
              <a:ext uri="{FF2B5EF4-FFF2-40B4-BE49-F238E27FC236}">
                <a16:creationId xmlns:a16="http://schemas.microsoft.com/office/drawing/2014/main" id="{7028C3DC-A2FD-88B2-276D-C515B70B077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lnSpc>
                <a:spcPct val="90000"/>
              </a:lnSpc>
              <a:spcBef>
                <a:spcPts val="2500"/>
              </a:spcBef>
              <a:buFont typeface="Arial" panose="020B0604020202020204" pitchFamily="34" charset="0"/>
              <a:buNone/>
            </a:pPr>
            <a:r>
              <a:rPr lang="en-US" b="1"/>
              <a:t>Improved Fraud Detection Results</a:t>
            </a:r>
          </a:p>
          <a:p>
            <a:pPr marL="0" lvl="1" indent="0">
              <a:lnSpc>
                <a:spcPct val="90000"/>
              </a:lnSpc>
              <a:buFont typeface="Arial" panose="020B0604020202020204" pitchFamily="34" charset="0"/>
              <a:buNone/>
            </a:pPr>
            <a:r>
              <a:t>SMOTE-enhanced Random Forest significantly increases recall on fraudulent transactions while keeping precision acceptable.</a:t>
            </a:r>
            <a:endParaRPr lang="en-US"/>
          </a:p>
          <a:p>
            <a:pPr marL="0" indent="0">
              <a:lnSpc>
                <a:spcPct val="90000"/>
              </a:lnSpc>
              <a:spcBef>
                <a:spcPts val="2500"/>
              </a:spcBef>
              <a:buFont typeface="Arial" panose="020B0604020202020204" pitchFamily="34" charset="0"/>
              <a:buNone/>
            </a:pPr>
            <a:r>
              <a:rPr lang="en-US" b="1"/>
              <a:t>Recommended Deployment Approach</a:t>
            </a:r>
          </a:p>
          <a:p>
            <a:pPr marL="0" lvl="1" indent="0">
              <a:lnSpc>
                <a:spcPct val="90000"/>
              </a:lnSpc>
              <a:buFont typeface="Arial" panose="020B0604020202020204" pitchFamily="34" charset="0"/>
              <a:buNone/>
            </a:pPr>
            <a:r>
              <a:t>Deploying Random Forest with SMOTE data is reliable, easier to explain, and integrates well with existing infrastructure.</a:t>
            </a:r>
            <a:endParaRPr lang="en-US"/>
          </a:p>
          <a:p>
            <a:pPr marL="0" indent="0">
              <a:lnSpc>
                <a:spcPct val="90000"/>
              </a:lnSpc>
              <a:spcBef>
                <a:spcPts val="2500"/>
              </a:spcBef>
              <a:buFont typeface="Arial" panose="020B0604020202020204" pitchFamily="34" charset="0"/>
              <a:buNone/>
            </a:pPr>
            <a:r>
              <a:rPr lang="en-US" b="1"/>
              <a:t>Future Enhancements</a:t>
            </a:r>
          </a:p>
          <a:p>
            <a:pPr marL="0" lvl="1" indent="0">
              <a:lnSpc>
                <a:spcPct val="90000"/>
              </a:lnSpc>
              <a:buFont typeface="Arial" panose="020B0604020202020204" pitchFamily="34" charset="0"/>
              <a:buNone/>
            </a:pPr>
            <a:r>
              <a:t>Potential improvements include cost-sensitive learning, threshold optimization, and advanced generative models with governance.</a:t>
            </a:r>
            <a:endParaRPr lang="en-US"/>
          </a:p>
        </p:txBody>
      </p:sp>
    </p:spTree>
    <p:extLst>
      <p:ext uri="{BB962C8B-B14F-4D97-AF65-F5344CB8AC3E}">
        <p14:creationId xmlns:p14="http://schemas.microsoft.com/office/powerpoint/2010/main" val="2707332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lassical academia">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BAF2CE-2C32-498E-B467-6C60C37679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2185BFC-6E97-4C88-9034-F2A7ED1C005E}">
  <ds:schemaRefs>
    <ds:schemaRef ds:uri="http://purl.org/dc/terms/"/>
    <ds:schemaRef ds:uri="http://purl.org/dc/elements/1.1/"/>
    <ds:schemaRef ds:uri="http://schemas.microsoft.com/office/2006/documentManagement/types"/>
    <ds:schemaRef ds:uri="http://www.w3.org/XML/1998/namespace"/>
    <ds:schemaRef ds:uri="71af3243-3dd4-4a8d-8c0d-dd76da1f02a5"/>
    <ds:schemaRef ds:uri="230e9df3-be65-4c73-a93b-d1236ebd677e"/>
    <ds:schemaRef ds:uri="16c05727-aa75-4e4a-9b5f-8a80a1165891"/>
    <ds:schemaRef ds:uri="http://schemas.openxmlformats.org/package/2006/metadata/core-properties"/>
    <ds:schemaRef ds:uri="http://schemas.microsoft.com/office/2006/metadata/properties"/>
    <ds:schemaRef ds:uri="http://schemas.microsoft.com/office/infopath/2007/PartnerControls"/>
    <ds:schemaRef ds:uri="http://schemas.microsoft.com/sharepoint/v3"/>
    <ds:schemaRef ds:uri="http://purl.org/dc/dcmitype/"/>
  </ds:schemaRefs>
</ds:datastoreItem>
</file>

<file path=customXml/itemProps3.xml><?xml version="1.0" encoding="utf-8"?>
<ds:datastoreItem xmlns:ds="http://schemas.openxmlformats.org/officeDocument/2006/customXml" ds:itemID="{881A4212-02C6-475D-B332-DC5017D04534}">
  <ds:schemaRefs>
    <ds:schemaRef ds:uri="http://schemas.microsoft.com/sharepoint/v3/contenttype/fo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10086</TotalTime>
  <Words>4</Words>
  <Application>Microsoft Office PowerPoint</Application>
  <PresentationFormat>Widescreen</PresentationFormat>
  <Paragraphs>2</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Classical academia</vt:lpstr>
      <vt:lpstr>Credit Card Fraud Detection: Executive Overview</vt:lpstr>
      <vt:lpstr>Business Context and Analytical Approach</vt:lpstr>
      <vt:lpstr>Business Problem: Credit Card Fraud in Highly Imbalanced Data</vt:lpstr>
      <vt:lpstr>Dataset Characteristics and Imbalance Challenge</vt:lpstr>
      <vt:lpstr>Modeling Strategy and Baseline Selection</vt:lpstr>
      <vt:lpstr>Handling Class Imbalance with SMOTE</vt:lpstr>
      <vt:lpstr>Advanced Synthesis: SMOTE vs GAN Comparison</vt:lpstr>
      <vt:lpstr>Results, Recommendation,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2024-06-26T20:20:27Z</dcterms:created>
  <dcterms:modified xsi:type="dcterms:W3CDTF">2026-03-19T00:45:22Z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